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IN" sz="1200" strike="noStrike" u="none">
              <a:solidFill>
                <a:srgbClr val="000000"/>
              </a:solidFill>
              <a:effectLst/>
              <a:uFillTx/>
              <a:latin typeface="Times New Roman"/>
            </a:endParaRPr>
          </a:p>
        </p:txBody>
      </p:sp>
      <p:sp>
        <p:nvSpPr>
          <p:cNvPr id="1" name="PlaceHolder 2"/>
          <p:cNvSpPr>
            <a:spLocks noGrp="1"/>
          </p:cNvSpPr>
          <p:nvPr>
            <p:ph type="ftr" idx="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2" name="PlaceHolder 3"/>
          <p:cNvSpPr>
            <a:spLocks noGrp="1"/>
          </p:cNvSpPr>
          <p:nvPr>
            <p:ph type="sldNum" idx="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68B36D06-E2D9-41B8-BDEE-1D9F0188DE18}" type="slidenum">
              <a:rPr b="0" lang="en-US" sz="1200" strike="noStrike" u="none">
                <a:solidFill>
                  <a:schemeClr val="dk1">
                    <a:tint val="75000"/>
                  </a:schemeClr>
                </a:solidFill>
                <a:effectLst/>
                <a:uFillTx/>
                <a:latin typeface="Calibri"/>
              </a:rPr>
              <a:t>13</a:t>
            </a:fld>
            <a:endParaRPr b="0" lang="en-IN" sz="1200" strike="noStrike" u="none">
              <a:solidFill>
                <a:srgbClr val="000000"/>
              </a:solidFill>
              <a:effectLst/>
              <a:uFillTx/>
              <a:latin typeface="Times New Roman"/>
            </a:endParaRPr>
          </a:p>
        </p:txBody>
      </p:sp>
      <p:sp>
        <p:nvSpPr>
          <p:cNvPr id="3" name="PlaceHolder 4"/>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4" name="PlaceHolder 5"/>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IN"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IN"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IN"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IN"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2880"/>
            <a:ext cx="3007440" cy="1161360"/>
          </a:xfrm>
          <a:prstGeom prst="rect">
            <a:avLst/>
          </a:prstGeom>
          <a:noFill/>
          <a:ln w="0">
            <a:noFill/>
          </a:ln>
        </p:spPr>
        <p:txBody>
          <a:bodyPr lIns="91440" rIns="91440" tIns="45720" bIns="45720" anchor="b">
            <a:noAutofit/>
          </a:bodyPr>
          <a:p>
            <a:pPr indent="0" defTabSz="914400">
              <a:lnSpc>
                <a:spcPct val="100000"/>
              </a:lnSpc>
              <a:buNone/>
              <a:tabLst>
                <a:tab algn="l" pos="0"/>
              </a:tabLst>
            </a:pPr>
            <a:r>
              <a:rPr b="1" lang="en-US" sz="2000" strike="noStrike" u="none">
                <a:solidFill>
                  <a:schemeClr val="dk1"/>
                </a:solidFill>
                <a:effectLst/>
                <a:uFillTx/>
                <a:latin typeface="Calibri"/>
              </a:rPr>
              <a:t>Click to edit Master title style</a:t>
            </a:r>
            <a:endParaRPr b="0" lang="en-IN" sz="2000" strike="noStrike" u="none">
              <a:solidFill>
                <a:srgbClr val="000000"/>
              </a:solidFill>
              <a:effectLst/>
              <a:uFillTx/>
              <a:latin typeface="Arial"/>
            </a:endParaRPr>
          </a:p>
        </p:txBody>
      </p:sp>
      <p:sp>
        <p:nvSpPr>
          <p:cNvPr id="6" name="PlaceHolder 2"/>
          <p:cNvSpPr>
            <a:spLocks noGrp="1"/>
          </p:cNvSpPr>
          <p:nvPr>
            <p:ph type="body"/>
          </p:nvPr>
        </p:nvSpPr>
        <p:spPr>
          <a:xfrm>
            <a:off x="3575160" y="272880"/>
            <a:ext cx="5110920" cy="585252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IN"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IN"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IN"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IN"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IN" sz="2000" strike="noStrike" u="none">
              <a:solidFill>
                <a:srgbClr val="000000"/>
              </a:solidFill>
              <a:effectLst/>
              <a:uFillTx/>
              <a:latin typeface="Arial"/>
            </a:endParaRPr>
          </a:p>
        </p:txBody>
      </p:sp>
      <p:sp>
        <p:nvSpPr>
          <p:cNvPr id="7" name="PlaceHolder 3"/>
          <p:cNvSpPr>
            <a:spLocks noGrp="1"/>
          </p:cNvSpPr>
          <p:nvPr>
            <p:ph type="body"/>
          </p:nvPr>
        </p:nvSpPr>
        <p:spPr>
          <a:xfrm>
            <a:off x="457200" y="1434960"/>
            <a:ext cx="3007440" cy="46904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IN" sz="1400" strike="noStrike" u="none">
              <a:solidFill>
                <a:srgbClr val="000000"/>
              </a:solidFill>
              <a:effectLst/>
              <a:uFillTx/>
              <a:latin typeface="Arial"/>
            </a:endParaRPr>
          </a:p>
        </p:txBody>
      </p:sp>
      <p:sp>
        <p:nvSpPr>
          <p:cNvPr id="8" name="PlaceHolder 4"/>
          <p:cNvSpPr>
            <a:spLocks noGrp="1"/>
          </p:cNvSpPr>
          <p:nvPr>
            <p:ph type="dt" idx="4"/>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9" name="PlaceHolder 5"/>
          <p:cNvSpPr>
            <a:spLocks noGrp="1"/>
          </p:cNvSpPr>
          <p:nvPr>
            <p:ph type="ftr" idx="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0" name="PlaceHolder 6"/>
          <p:cNvSpPr>
            <a:spLocks noGrp="1"/>
          </p:cNvSpPr>
          <p:nvPr>
            <p:ph type="sldNum" idx="6"/>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530E8368-EF3D-4E4C-AECB-E4CA7F88F3B2}"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792440" y="4800600"/>
            <a:ext cx="5485680" cy="565920"/>
          </a:xfrm>
          <a:prstGeom prst="rect">
            <a:avLst/>
          </a:prstGeom>
          <a:noFill/>
          <a:ln w="0">
            <a:noFill/>
          </a:ln>
        </p:spPr>
        <p:txBody>
          <a:bodyPr lIns="91440" rIns="91440" tIns="45720" bIns="45720" anchor="b">
            <a:noAutofit/>
          </a:bodyPr>
          <a:p>
            <a:pPr indent="0" defTabSz="914400">
              <a:lnSpc>
                <a:spcPct val="100000"/>
              </a:lnSpc>
              <a:buNone/>
              <a:tabLst>
                <a:tab algn="l" pos="0"/>
              </a:tabLst>
            </a:pPr>
            <a:r>
              <a:rPr b="1" lang="en-US" sz="2000" strike="noStrike" u="none">
                <a:solidFill>
                  <a:schemeClr val="dk1"/>
                </a:solidFill>
                <a:effectLst/>
                <a:uFillTx/>
                <a:latin typeface="Calibri"/>
              </a:rPr>
              <a:t>Click to edit Master title style</a:t>
            </a:r>
            <a:endParaRPr b="0" lang="en-IN" sz="2000" strike="noStrike" u="none">
              <a:solidFill>
                <a:srgbClr val="000000"/>
              </a:solidFill>
              <a:effectLst/>
              <a:uFillTx/>
              <a:latin typeface="Arial"/>
            </a:endParaRPr>
          </a:p>
        </p:txBody>
      </p:sp>
      <p:sp>
        <p:nvSpPr>
          <p:cNvPr id="12" name="PlaceHolder 2"/>
          <p:cNvSpPr>
            <a:spLocks noGrp="1"/>
          </p:cNvSpPr>
          <p:nvPr>
            <p:ph type="body"/>
          </p:nvPr>
        </p:nvSpPr>
        <p:spPr>
          <a:xfrm>
            <a:off x="1792440" y="612720"/>
            <a:ext cx="5485680" cy="411408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IN"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IN" sz="3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IN" sz="3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IN" sz="3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IN" sz="3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IN" sz="3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IN" sz="3200" strike="noStrike" u="none">
              <a:solidFill>
                <a:srgbClr val="000000"/>
              </a:solidFill>
              <a:effectLst/>
              <a:uFillTx/>
              <a:latin typeface="Arial"/>
            </a:endParaRPr>
          </a:p>
        </p:txBody>
      </p:sp>
      <p:sp>
        <p:nvSpPr>
          <p:cNvPr id="13" name="PlaceHolder 3"/>
          <p:cNvSpPr>
            <a:spLocks noGrp="1"/>
          </p:cNvSpPr>
          <p:nvPr>
            <p:ph type="body"/>
          </p:nvPr>
        </p:nvSpPr>
        <p:spPr>
          <a:xfrm>
            <a:off x="1792440" y="5367240"/>
            <a:ext cx="5485680" cy="8042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IN" sz="1400" strike="noStrike" u="none">
              <a:solidFill>
                <a:srgbClr val="000000"/>
              </a:solidFill>
              <a:effectLst/>
              <a:uFillTx/>
              <a:latin typeface="Arial"/>
            </a:endParaRPr>
          </a:p>
        </p:txBody>
      </p:sp>
      <p:sp>
        <p:nvSpPr>
          <p:cNvPr id="14" name="PlaceHolder 4"/>
          <p:cNvSpPr>
            <a:spLocks noGrp="1"/>
          </p:cNvSpPr>
          <p:nvPr>
            <p:ph type="dt" idx="7"/>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15" name="PlaceHolder 5"/>
          <p:cNvSpPr>
            <a:spLocks noGrp="1"/>
          </p:cNvSpPr>
          <p:nvPr>
            <p:ph type="ftr" idx="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6" name="PlaceHolder 6"/>
          <p:cNvSpPr>
            <a:spLocks noGrp="1"/>
          </p:cNvSpPr>
          <p:nvPr>
            <p:ph type="sldNum" idx="9"/>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F1B0DE98-92B9-4E9C-BD0E-1A875AE07EF9}"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2130480"/>
            <a:ext cx="7771680" cy="146916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18" name="PlaceHolder 2"/>
          <p:cNvSpPr>
            <a:spLocks noGrp="1"/>
          </p:cNvSpPr>
          <p:nvPr>
            <p:ph type="dt" idx="10"/>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19" name="PlaceHolder 3"/>
          <p:cNvSpPr>
            <a:spLocks noGrp="1"/>
          </p:cNvSpPr>
          <p:nvPr>
            <p:ph type="ftr" idx="1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0" name="PlaceHolder 4"/>
          <p:cNvSpPr>
            <a:spLocks noGrp="1"/>
          </p:cNvSpPr>
          <p:nvPr>
            <p:ph type="sldNum" idx="12"/>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67CEA79B-AB2B-41EF-AAA9-27F287B1ED15}"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22"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IN"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IN"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IN"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IN"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IN" sz="2000" strike="noStrike" u="none">
              <a:solidFill>
                <a:srgbClr val="000000"/>
              </a:solidFill>
              <a:effectLst/>
              <a:uFillTx/>
              <a:latin typeface="Arial"/>
            </a:endParaRPr>
          </a:p>
        </p:txBody>
      </p:sp>
      <p:sp>
        <p:nvSpPr>
          <p:cNvPr id="23" name="PlaceHolder 3"/>
          <p:cNvSpPr>
            <a:spLocks noGrp="1"/>
          </p:cNvSpPr>
          <p:nvPr>
            <p:ph type="dt" idx="13"/>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C7BAC98-8B6A-443C-9191-5BEFFE23F021}"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6629400" y="274680"/>
            <a:ext cx="2056680" cy="5850720"/>
          </a:xfrm>
          <a:prstGeom prst="rect">
            <a:avLst/>
          </a:prstGeom>
          <a:noFill/>
          <a:ln w="0">
            <a:noFill/>
          </a:ln>
        </p:spPr>
        <p:txBody>
          <a:bodyPr lIns="91440" rIns="91440" tIns="45720" bIns="45720" anchor="ctr" vert="eaVert">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27" name="PlaceHolder 2"/>
          <p:cNvSpPr>
            <a:spLocks noGrp="1"/>
          </p:cNvSpPr>
          <p:nvPr>
            <p:ph type="body"/>
          </p:nvPr>
        </p:nvSpPr>
        <p:spPr>
          <a:xfrm>
            <a:off x="457200" y="274680"/>
            <a:ext cx="6019200" cy="585072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IN"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IN"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IN"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IN"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IN" sz="2000" strike="noStrike" u="none">
              <a:solidFill>
                <a:srgbClr val="000000"/>
              </a:solidFill>
              <a:effectLst/>
              <a:uFillTx/>
              <a:latin typeface="Arial"/>
            </a:endParaRPr>
          </a:p>
        </p:txBody>
      </p:sp>
      <p:sp>
        <p:nvSpPr>
          <p:cNvPr id="28" name="PlaceHolder 3"/>
          <p:cNvSpPr>
            <a:spLocks noGrp="1"/>
          </p:cNvSpPr>
          <p:nvPr>
            <p:ph type="dt" idx="16"/>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29" name="PlaceHolder 4"/>
          <p:cNvSpPr>
            <a:spLocks noGrp="1"/>
          </p:cNvSpPr>
          <p:nvPr>
            <p:ph type="ftr" idx="1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0" name="PlaceHolder 5"/>
          <p:cNvSpPr>
            <a:spLocks noGrp="1"/>
          </p:cNvSpPr>
          <p:nvPr>
            <p:ph type="sldNum" idx="18"/>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48C7E762-ED67-489F-B00D-DF6153937CA8}"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32"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IN"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IN"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IN"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IN"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IN" sz="2000" strike="noStrike" u="none">
              <a:solidFill>
                <a:srgbClr val="000000"/>
              </a:solidFill>
              <a:effectLst/>
              <a:uFillTx/>
              <a:latin typeface="Arial"/>
            </a:endParaRPr>
          </a:p>
        </p:txBody>
      </p:sp>
      <p:sp>
        <p:nvSpPr>
          <p:cNvPr id="33" name="PlaceHolder 3"/>
          <p:cNvSpPr>
            <a:spLocks noGrp="1"/>
          </p:cNvSpPr>
          <p:nvPr>
            <p:ph type="dt" idx="19"/>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34" name="PlaceHolder 4"/>
          <p:cNvSpPr>
            <a:spLocks noGrp="1"/>
          </p:cNvSpPr>
          <p:nvPr>
            <p:ph type="ftr" idx="2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5" name="PlaceHolder 5"/>
          <p:cNvSpPr>
            <a:spLocks noGrp="1"/>
          </p:cNvSpPr>
          <p:nvPr>
            <p:ph type="sldNum" idx="21"/>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30DBEE9-BFDB-4B94-9627-9F58B4C889E4}"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722160" y="4406760"/>
            <a:ext cx="7771680" cy="136152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4000" strike="noStrike" u="none" cap="all">
                <a:solidFill>
                  <a:schemeClr val="dk1"/>
                </a:solidFill>
                <a:effectLst/>
                <a:uFillTx/>
                <a:latin typeface="Calibri"/>
              </a:rPr>
              <a:t>Click to edit Master title style</a:t>
            </a:r>
            <a:endParaRPr b="0" lang="en-IN" sz="4000" strike="noStrike" u="none">
              <a:solidFill>
                <a:srgbClr val="000000"/>
              </a:solidFill>
              <a:effectLst/>
              <a:uFillTx/>
              <a:latin typeface="Arial"/>
            </a:endParaRPr>
          </a:p>
        </p:txBody>
      </p:sp>
      <p:sp>
        <p:nvSpPr>
          <p:cNvPr id="37" name="PlaceHolder 2"/>
          <p:cNvSpPr>
            <a:spLocks noGrp="1"/>
          </p:cNvSpPr>
          <p:nvPr>
            <p:ph type="body"/>
          </p:nvPr>
        </p:nvSpPr>
        <p:spPr>
          <a:xfrm>
            <a:off x="722160" y="2906640"/>
            <a:ext cx="7771680" cy="149940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IN" sz="2000" strike="noStrike" u="none">
              <a:solidFill>
                <a:srgbClr val="000000"/>
              </a:solidFill>
              <a:effectLst/>
              <a:uFillTx/>
              <a:latin typeface="Arial"/>
            </a:endParaRPr>
          </a:p>
        </p:txBody>
      </p:sp>
      <p:sp>
        <p:nvSpPr>
          <p:cNvPr id="38" name="PlaceHolder 3"/>
          <p:cNvSpPr>
            <a:spLocks noGrp="1"/>
          </p:cNvSpPr>
          <p:nvPr>
            <p:ph type="dt" idx="22"/>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39" name="PlaceHolder 4"/>
          <p:cNvSpPr>
            <a:spLocks noGrp="1"/>
          </p:cNvSpPr>
          <p:nvPr>
            <p:ph type="ftr" idx="2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0" name="PlaceHolder 5"/>
          <p:cNvSpPr>
            <a:spLocks noGrp="1"/>
          </p:cNvSpPr>
          <p:nvPr>
            <p:ph type="sldNum" idx="24"/>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58CE4253-1C06-409C-AE6C-DA1CCB1616BA}"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42" name="PlaceHolder 2"/>
          <p:cNvSpPr>
            <a:spLocks noGrp="1"/>
          </p:cNvSpPr>
          <p:nvPr>
            <p:ph type="body"/>
          </p:nvPr>
        </p:nvSpPr>
        <p:spPr>
          <a:xfrm>
            <a:off x="45720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IN" sz="2800" strike="noStrike" u="none">
              <a:solidFill>
                <a:srgbClr val="000000"/>
              </a:solidFill>
              <a:effectLst/>
              <a:uFillTx/>
              <a:latin typeface="Arial"/>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IN" sz="2400" strike="noStrike" u="none">
              <a:solidFill>
                <a:srgbClr val="000000"/>
              </a:solidFill>
              <a:effectLst/>
              <a:uFillTx/>
              <a:latin typeface="Arial"/>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IN" sz="2000" strike="noStrike" u="none">
              <a:solidFill>
                <a:srgbClr val="000000"/>
              </a:solidFill>
              <a:effectLst/>
              <a:uFillTx/>
              <a:latin typeface="Arial"/>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IN" sz="1800" strike="noStrike" u="none">
              <a:solidFill>
                <a:srgbClr val="000000"/>
              </a:solidFill>
              <a:effectLst/>
              <a:uFillTx/>
              <a:latin typeface="Arial"/>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IN" sz="1800" strike="noStrike" u="none">
              <a:solidFill>
                <a:srgbClr val="000000"/>
              </a:solidFill>
              <a:effectLst/>
              <a:uFillTx/>
              <a:latin typeface="Arial"/>
            </a:endParaRPr>
          </a:p>
        </p:txBody>
      </p:sp>
      <p:sp>
        <p:nvSpPr>
          <p:cNvPr id="43" name="PlaceHolder 3"/>
          <p:cNvSpPr>
            <a:spLocks noGrp="1"/>
          </p:cNvSpPr>
          <p:nvPr>
            <p:ph type="body"/>
          </p:nvPr>
        </p:nvSpPr>
        <p:spPr>
          <a:xfrm>
            <a:off x="464832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IN" sz="2800" strike="noStrike" u="none">
              <a:solidFill>
                <a:srgbClr val="000000"/>
              </a:solidFill>
              <a:effectLst/>
              <a:uFillTx/>
              <a:latin typeface="Arial"/>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IN" sz="2400" strike="noStrike" u="none">
              <a:solidFill>
                <a:srgbClr val="000000"/>
              </a:solidFill>
              <a:effectLst/>
              <a:uFillTx/>
              <a:latin typeface="Arial"/>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IN" sz="2000" strike="noStrike" u="none">
              <a:solidFill>
                <a:srgbClr val="000000"/>
              </a:solidFill>
              <a:effectLst/>
              <a:uFillTx/>
              <a:latin typeface="Arial"/>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IN" sz="1800" strike="noStrike" u="none">
              <a:solidFill>
                <a:srgbClr val="000000"/>
              </a:solidFill>
              <a:effectLst/>
              <a:uFillTx/>
              <a:latin typeface="Arial"/>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IN" sz="1800" strike="noStrike" u="none">
              <a:solidFill>
                <a:srgbClr val="000000"/>
              </a:solidFill>
              <a:effectLst/>
              <a:uFillTx/>
              <a:latin typeface="Arial"/>
            </a:endParaRPr>
          </a:p>
        </p:txBody>
      </p:sp>
      <p:sp>
        <p:nvSpPr>
          <p:cNvPr id="44" name="PlaceHolder 4"/>
          <p:cNvSpPr>
            <a:spLocks noGrp="1"/>
          </p:cNvSpPr>
          <p:nvPr>
            <p:ph type="dt" idx="25"/>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45" name="PlaceHolder 5"/>
          <p:cNvSpPr>
            <a:spLocks noGrp="1"/>
          </p:cNvSpPr>
          <p:nvPr>
            <p:ph type="ftr" idx="2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6" name="PlaceHolder 6"/>
          <p:cNvSpPr>
            <a:spLocks noGrp="1"/>
          </p:cNvSpPr>
          <p:nvPr>
            <p:ph type="sldNum" idx="27"/>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A6AF5945-07E6-4609-9F14-5463CBC5A9ED}"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48" name="PlaceHolder 2"/>
          <p:cNvSpPr>
            <a:spLocks noGrp="1"/>
          </p:cNvSpPr>
          <p:nvPr>
            <p:ph type="body"/>
          </p:nvPr>
        </p:nvSpPr>
        <p:spPr>
          <a:xfrm>
            <a:off x="457200" y="1535040"/>
            <a:ext cx="403956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IN" sz="2400" strike="noStrike" u="none">
              <a:solidFill>
                <a:srgbClr val="000000"/>
              </a:solidFill>
              <a:effectLst/>
              <a:uFillTx/>
              <a:latin typeface="Arial"/>
            </a:endParaRPr>
          </a:p>
        </p:txBody>
      </p:sp>
      <p:sp>
        <p:nvSpPr>
          <p:cNvPr id="49" name="PlaceHolder 3"/>
          <p:cNvSpPr>
            <a:spLocks noGrp="1"/>
          </p:cNvSpPr>
          <p:nvPr>
            <p:ph type="body"/>
          </p:nvPr>
        </p:nvSpPr>
        <p:spPr>
          <a:xfrm>
            <a:off x="457200" y="2174760"/>
            <a:ext cx="403956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IN" sz="2400" strike="noStrike" u="none">
              <a:solidFill>
                <a:srgbClr val="000000"/>
              </a:solidFill>
              <a:effectLst/>
              <a:uFillTx/>
              <a:latin typeface="Arial"/>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IN" sz="2000" strike="noStrike" u="none">
              <a:solidFill>
                <a:srgbClr val="000000"/>
              </a:solidFill>
              <a:effectLst/>
              <a:uFillTx/>
              <a:latin typeface="Arial"/>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IN" sz="1800" strike="noStrike" u="none">
              <a:solidFill>
                <a:srgbClr val="000000"/>
              </a:solidFill>
              <a:effectLst/>
              <a:uFillTx/>
              <a:latin typeface="Arial"/>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IN" sz="1600" strike="noStrike" u="none">
              <a:solidFill>
                <a:srgbClr val="000000"/>
              </a:solidFill>
              <a:effectLst/>
              <a:uFillTx/>
              <a:latin typeface="Arial"/>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IN" sz="1600" strike="noStrike" u="none">
              <a:solidFill>
                <a:srgbClr val="000000"/>
              </a:solidFill>
              <a:effectLst/>
              <a:uFillTx/>
              <a:latin typeface="Arial"/>
            </a:endParaRPr>
          </a:p>
        </p:txBody>
      </p:sp>
      <p:sp>
        <p:nvSpPr>
          <p:cNvPr id="50" name="PlaceHolder 4"/>
          <p:cNvSpPr>
            <a:spLocks noGrp="1"/>
          </p:cNvSpPr>
          <p:nvPr>
            <p:ph type="body"/>
          </p:nvPr>
        </p:nvSpPr>
        <p:spPr>
          <a:xfrm>
            <a:off x="4645080" y="1535040"/>
            <a:ext cx="404100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IN" sz="2400" strike="noStrike" u="none">
              <a:solidFill>
                <a:srgbClr val="000000"/>
              </a:solidFill>
              <a:effectLst/>
              <a:uFillTx/>
              <a:latin typeface="Arial"/>
            </a:endParaRPr>
          </a:p>
        </p:txBody>
      </p:sp>
      <p:sp>
        <p:nvSpPr>
          <p:cNvPr id="51" name="PlaceHolder 5"/>
          <p:cNvSpPr>
            <a:spLocks noGrp="1"/>
          </p:cNvSpPr>
          <p:nvPr>
            <p:ph type="body"/>
          </p:nvPr>
        </p:nvSpPr>
        <p:spPr>
          <a:xfrm>
            <a:off x="4645080" y="2174760"/>
            <a:ext cx="404100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IN" sz="2400" strike="noStrike" u="none">
              <a:solidFill>
                <a:srgbClr val="000000"/>
              </a:solidFill>
              <a:effectLst/>
              <a:uFillTx/>
              <a:latin typeface="Arial"/>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IN" sz="2000" strike="noStrike" u="none">
              <a:solidFill>
                <a:srgbClr val="000000"/>
              </a:solidFill>
              <a:effectLst/>
              <a:uFillTx/>
              <a:latin typeface="Arial"/>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IN" sz="1800" strike="noStrike" u="none">
              <a:solidFill>
                <a:srgbClr val="000000"/>
              </a:solidFill>
              <a:effectLst/>
              <a:uFillTx/>
              <a:latin typeface="Arial"/>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IN" sz="1600" strike="noStrike" u="none">
              <a:solidFill>
                <a:srgbClr val="000000"/>
              </a:solidFill>
              <a:effectLst/>
              <a:uFillTx/>
              <a:latin typeface="Arial"/>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IN" sz="1600" strike="noStrike" u="none">
              <a:solidFill>
                <a:srgbClr val="000000"/>
              </a:solidFill>
              <a:effectLst/>
              <a:uFillTx/>
              <a:latin typeface="Arial"/>
            </a:endParaRPr>
          </a:p>
        </p:txBody>
      </p:sp>
      <p:sp>
        <p:nvSpPr>
          <p:cNvPr id="52" name="PlaceHolder 6"/>
          <p:cNvSpPr>
            <a:spLocks noGrp="1"/>
          </p:cNvSpPr>
          <p:nvPr>
            <p:ph type="dt" idx="28"/>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53" name="PlaceHolder 7"/>
          <p:cNvSpPr>
            <a:spLocks noGrp="1"/>
          </p:cNvSpPr>
          <p:nvPr>
            <p:ph type="ftr" idx="2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4" name="PlaceHolder 8"/>
          <p:cNvSpPr>
            <a:spLocks noGrp="1"/>
          </p:cNvSpPr>
          <p:nvPr>
            <p:ph type="sldNum" idx="30"/>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A39E5AF6-24E7-4B6C-AB2C-5B55B0C3ABFF}"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en-IN" sz="4400" strike="noStrike" u="none">
              <a:solidFill>
                <a:srgbClr val="000000"/>
              </a:solidFill>
              <a:effectLst/>
              <a:uFillTx/>
              <a:latin typeface="Arial"/>
            </a:endParaRPr>
          </a:p>
        </p:txBody>
      </p:sp>
      <p:sp>
        <p:nvSpPr>
          <p:cNvPr id="56" name="PlaceHolder 2"/>
          <p:cNvSpPr>
            <a:spLocks noGrp="1"/>
          </p:cNvSpPr>
          <p:nvPr>
            <p:ph type="dt" idx="3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57" name="PlaceHolder 3"/>
          <p:cNvSpPr>
            <a:spLocks noGrp="1"/>
          </p:cNvSpPr>
          <p:nvPr>
            <p:ph type="ftr" idx="3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8" name="PlaceHolder 4"/>
          <p:cNvSpPr>
            <a:spLocks noGrp="1"/>
          </p:cNvSpPr>
          <p:nvPr>
            <p:ph type="sldNum" idx="3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A39AB15E-857A-4EAD-B464-7FABF2D5BB6F}"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Freeform 2"/>
          <p:cNvSpPr/>
          <p:nvPr/>
        </p:nvSpPr>
        <p:spPr>
          <a:xfrm>
            <a:off x="241920" y="245160"/>
            <a:ext cx="17852760" cy="9795960"/>
          </a:xfrm>
          <a:custGeom>
            <a:avLst/>
            <a:gdLst>
              <a:gd name="textAreaLeft" fmla="*/ 0 w 17852760"/>
              <a:gd name="textAreaRight" fmla="*/ 17853480 w 17852760"/>
              <a:gd name="textAreaTop" fmla="*/ 0 h 9795960"/>
              <a:gd name="textAreaBottom" fmla="*/ 9796680 h 9795960"/>
            </a:gdLst>
            <a:ahLst/>
            <a:cxnLst/>
            <a:rect l="textAreaLeft" t="textAreaTop" r="textAreaRight" b="textAreaBottom"/>
            <a:pathLst>
              <a:path w="17853570" h="9796731">
                <a:moveTo>
                  <a:pt x="0" y="0"/>
                </a:moveTo>
                <a:lnTo>
                  <a:pt x="17853570" y="0"/>
                </a:lnTo>
                <a:lnTo>
                  <a:pt x="17853570" y="9796730"/>
                </a:lnTo>
                <a:lnTo>
                  <a:pt x="0" y="979673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60" name="Freeform 3"/>
          <p:cNvSpPr/>
          <p:nvPr/>
        </p:nvSpPr>
        <p:spPr>
          <a:xfrm>
            <a:off x="1823040" y="478080"/>
            <a:ext cx="13707720" cy="2390760"/>
          </a:xfrm>
          <a:custGeom>
            <a:avLst/>
            <a:gdLst>
              <a:gd name="textAreaLeft" fmla="*/ 0 w 13707720"/>
              <a:gd name="textAreaRight" fmla="*/ 13708440 w 13707720"/>
              <a:gd name="textAreaTop" fmla="*/ 0 h 2390760"/>
              <a:gd name="textAreaBottom" fmla="*/ 2391480 h 2390760"/>
            </a:gdLst>
            <a:ahLst/>
            <a:cxnLst/>
            <a:rect l="textAreaLeft" t="textAreaTop" r="textAreaRight" b="textAreaBottom"/>
            <a:pathLst>
              <a:path w="13708378" h="2391566">
                <a:moveTo>
                  <a:pt x="0" y="0"/>
                </a:moveTo>
                <a:lnTo>
                  <a:pt x="13708378" y="0"/>
                </a:lnTo>
                <a:lnTo>
                  <a:pt x="13708378" y="2391566"/>
                </a:lnTo>
                <a:lnTo>
                  <a:pt x="0" y="2391566"/>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61" name="TextBox 4"/>
          <p:cNvSpPr/>
          <p:nvPr/>
        </p:nvSpPr>
        <p:spPr>
          <a:xfrm>
            <a:off x="9139320" y="4652280"/>
            <a:ext cx="8640" cy="8863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endParaRPr b="0" lang="en-US" sz="1800" strike="noStrike" u="none">
              <a:solidFill>
                <a:schemeClr val="dk1"/>
              </a:solidFill>
              <a:effectLst/>
              <a:uFillTx/>
              <a:latin typeface="Calibri"/>
            </a:endParaRPr>
          </a:p>
        </p:txBody>
      </p:sp>
      <p:sp>
        <p:nvSpPr>
          <p:cNvPr id="62" name="TextBox 5"/>
          <p:cNvSpPr/>
          <p:nvPr/>
        </p:nvSpPr>
        <p:spPr>
          <a:xfrm>
            <a:off x="9139320" y="4820040"/>
            <a:ext cx="8640" cy="579600"/>
          </a:xfrm>
          <a:prstGeom prst="rect">
            <a:avLst/>
          </a:prstGeom>
          <a:noFill/>
          <a:ln w="0">
            <a:noFill/>
          </a:ln>
        </p:spPr>
        <p:style>
          <a:lnRef idx="0"/>
          <a:fillRef idx="0"/>
          <a:effectRef idx="0"/>
          <a:fontRef idx="minor"/>
        </p:style>
        <p:txBody>
          <a:bodyPr lIns="0" rIns="0" tIns="0" bIns="0" anchor="t">
            <a:spAutoFit/>
          </a:bodyPr>
          <a:p>
            <a:pPr algn="ctr" defTabSz="914400">
              <a:lnSpc>
                <a:spcPts val="4759"/>
              </a:lnSpc>
            </a:pPr>
            <a:endParaRPr b="0" lang="en-US" sz="1800" strike="noStrike" u="none">
              <a:solidFill>
                <a:schemeClr val="dk1"/>
              </a:solidFill>
              <a:effectLst/>
              <a:uFillTx/>
              <a:latin typeface="Calibri"/>
            </a:endParaRPr>
          </a:p>
        </p:txBody>
      </p:sp>
      <p:sp>
        <p:nvSpPr>
          <p:cNvPr id="63" name="TextBox 6"/>
          <p:cNvSpPr/>
          <p:nvPr/>
        </p:nvSpPr>
        <p:spPr>
          <a:xfrm>
            <a:off x="9139320" y="4190400"/>
            <a:ext cx="8640" cy="181044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endParaRPr b="0" lang="en-IN" sz="1800" strike="noStrike" u="none">
              <a:solidFill>
                <a:srgbClr val="000000"/>
              </a:solidFill>
              <a:effectLst/>
              <a:uFillTx/>
              <a:latin typeface="Arial"/>
            </a:endParaRPr>
          </a:p>
          <a:p>
            <a:pPr algn="ctr" defTabSz="914400">
              <a:lnSpc>
                <a:spcPts val="7279"/>
              </a:lnSpc>
            </a:pPr>
            <a:endParaRPr b="0" lang="en-IN" sz="1800" strike="noStrike" u="none">
              <a:solidFill>
                <a:srgbClr val="000000"/>
              </a:solidFill>
              <a:effectLst/>
              <a:uFillTx/>
              <a:latin typeface="Arial"/>
            </a:endParaRPr>
          </a:p>
        </p:txBody>
      </p:sp>
      <p:sp>
        <p:nvSpPr>
          <p:cNvPr id="64" name="TextBox 7"/>
          <p:cNvSpPr/>
          <p:nvPr/>
        </p:nvSpPr>
        <p:spPr>
          <a:xfrm>
            <a:off x="571320" y="4190400"/>
            <a:ext cx="17193960" cy="184860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Credit Card Billing and Payment Reminder System</a:t>
            </a:r>
            <a:endParaRPr b="0" lang="en-IN" sz="5200" strike="noStrike" u="none">
              <a:solidFill>
                <a:srgbClr val="000000"/>
              </a:solidFill>
              <a:effectLst/>
              <a:uFillTx/>
              <a:latin typeface="Arial"/>
            </a:endParaRPr>
          </a:p>
        </p:txBody>
      </p:sp>
      <p:sp>
        <p:nvSpPr>
          <p:cNvPr id="65" name="TextBox 8"/>
          <p:cNvSpPr/>
          <p:nvPr/>
        </p:nvSpPr>
        <p:spPr>
          <a:xfrm>
            <a:off x="241920" y="6239520"/>
            <a:ext cx="14465520" cy="3022200"/>
          </a:xfrm>
          <a:prstGeom prst="rect">
            <a:avLst/>
          </a:prstGeom>
          <a:noFill/>
          <a:ln w="0">
            <a:noFill/>
          </a:ln>
        </p:spPr>
        <p:style>
          <a:lnRef idx="0"/>
          <a:fillRef idx="0"/>
          <a:effectRef idx="0"/>
          <a:fontRef idx="minor"/>
        </p:style>
        <p:txBody>
          <a:bodyPr lIns="0" rIns="0" tIns="0" bIns="0" anchor="t">
            <a:spAutoFit/>
          </a:bodyPr>
          <a:p>
            <a:pPr algn="ctr" defTabSz="914400">
              <a:lnSpc>
                <a:spcPts val="4759"/>
              </a:lnSpc>
            </a:pPr>
            <a:r>
              <a:rPr b="0" lang="en-US" sz="3400" strike="noStrike" u="none">
                <a:solidFill>
                  <a:srgbClr val="000000"/>
                </a:solidFill>
                <a:effectLst/>
                <a:uFillTx/>
                <a:latin typeface="Canva Sans"/>
                <a:ea typeface="Canva Sans"/>
              </a:rPr>
              <a:t>                  </a:t>
            </a:r>
            <a:r>
              <a:rPr b="0" lang="en-US" sz="3400" strike="noStrike" u="none">
                <a:solidFill>
                  <a:srgbClr val="da2727"/>
                </a:solidFill>
                <a:effectLst/>
                <a:uFillTx/>
                <a:latin typeface="Canva Sans"/>
                <a:ea typeface="Canva Sans"/>
              </a:rPr>
              <a:t>NAME :                           HEMA HARSHITHA V</a:t>
            </a:r>
            <a:endParaRPr b="0" lang="en-IN" sz="3400" strike="noStrike" u="none">
              <a:solidFill>
                <a:srgbClr val="000000"/>
              </a:solidFill>
              <a:effectLst/>
              <a:uFillTx/>
              <a:latin typeface="Arial"/>
            </a:endParaRPr>
          </a:p>
          <a:p>
            <a:pPr algn="ctr" defTabSz="914400">
              <a:lnSpc>
                <a:spcPts val="4759"/>
              </a:lnSpc>
            </a:pPr>
            <a:r>
              <a:rPr b="0" lang="en-US" sz="3400" strike="noStrike" u="none">
                <a:solidFill>
                  <a:srgbClr val="da2727"/>
                </a:solidFill>
                <a:effectLst/>
                <a:uFillTx/>
                <a:latin typeface="Canva Sans"/>
                <a:ea typeface="Canva Sans"/>
              </a:rPr>
              <a:t>          REGISTER NUMBER :            25BCS219</a:t>
            </a:r>
            <a:endParaRPr b="0" lang="en-IN" sz="3400" strike="noStrike" u="none">
              <a:solidFill>
                <a:srgbClr val="000000"/>
              </a:solidFill>
              <a:effectLst/>
              <a:uFillTx/>
              <a:latin typeface="Arial"/>
            </a:endParaRPr>
          </a:p>
          <a:p>
            <a:pPr algn="ctr" defTabSz="914400">
              <a:lnSpc>
                <a:spcPts val="4759"/>
              </a:lnSpc>
            </a:pPr>
            <a:r>
              <a:rPr b="0" lang="en-US" sz="3400" strike="noStrike" u="none">
                <a:solidFill>
                  <a:srgbClr val="da2727"/>
                </a:solidFill>
                <a:effectLst/>
                <a:uFillTx/>
                <a:latin typeface="Canva Sans"/>
                <a:ea typeface="Canva Sans"/>
              </a:rPr>
              <a:t>                             DEPARTMENT           :   B.Sc.COMPUTER SCIENCE</a:t>
            </a:r>
            <a:endParaRPr b="0" lang="en-IN" sz="3400" strike="noStrike" u="none">
              <a:solidFill>
                <a:srgbClr val="000000"/>
              </a:solidFill>
              <a:effectLst/>
              <a:uFillTx/>
              <a:latin typeface="Arial"/>
            </a:endParaRPr>
          </a:p>
          <a:p>
            <a:pPr algn="ctr" defTabSz="914400">
              <a:lnSpc>
                <a:spcPts val="4759"/>
              </a:lnSpc>
            </a:pPr>
            <a:r>
              <a:rPr b="0" lang="en-US" sz="3400" strike="noStrike" u="none">
                <a:solidFill>
                  <a:srgbClr val="da2727"/>
                </a:solidFill>
                <a:effectLst/>
                <a:uFillTx/>
                <a:latin typeface="Canva Sans"/>
                <a:ea typeface="Canva Sans"/>
              </a:rPr>
              <a:t>                    SUBJECT              :       JAVA PROGRAMMING</a:t>
            </a:r>
            <a:r>
              <a:rPr b="0" lang="en-US" sz="3400" strike="noStrike" u="none">
                <a:solidFill>
                  <a:srgbClr val="000000"/>
                </a:solidFill>
                <a:effectLst/>
                <a:uFillTx/>
                <a:latin typeface="Canva Sans"/>
                <a:ea typeface="Canva Sans"/>
              </a:rPr>
              <a:t> </a:t>
            </a:r>
            <a:endParaRPr b="0" lang="en-IN" sz="3400" strike="noStrike" u="none">
              <a:solidFill>
                <a:srgbClr val="000000"/>
              </a:solidFill>
              <a:effectLst/>
              <a:uFillTx/>
              <a:latin typeface="Arial"/>
            </a:endParaRPr>
          </a:p>
          <a:p>
            <a:pPr algn="ctr" defTabSz="914400">
              <a:lnSpc>
                <a:spcPts val="4759"/>
              </a:lnSpc>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Freeform 2"/>
          <p:cNvSpPr/>
          <p:nvPr/>
        </p:nvSpPr>
        <p:spPr>
          <a:xfrm>
            <a:off x="277920" y="225360"/>
            <a:ext cx="17901720" cy="9846360"/>
          </a:xfrm>
          <a:custGeom>
            <a:avLst/>
            <a:gdLst>
              <a:gd name="textAreaLeft" fmla="*/ 0 w 17901720"/>
              <a:gd name="textAreaRight" fmla="*/ 17902440 w 17901720"/>
              <a:gd name="textAreaTop" fmla="*/ 0 h 9846360"/>
              <a:gd name="textAreaBottom" fmla="*/ 9847080 h 9846360"/>
            </a:gdLst>
            <a:ahLst/>
            <a:cxnLst/>
            <a:rect l="textAreaLeft" t="textAreaTop" r="textAreaRight" b="textAreaBottom"/>
            <a:pathLst>
              <a:path w="17902481" h="9847223">
                <a:moveTo>
                  <a:pt x="0" y="0"/>
                </a:moveTo>
                <a:lnTo>
                  <a:pt x="17902481" y="0"/>
                </a:lnTo>
                <a:lnTo>
                  <a:pt x="17902481" y="9847223"/>
                </a:lnTo>
                <a:lnTo>
                  <a:pt x="0" y="9847223"/>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67" name="TextBox 3"/>
          <p:cNvSpPr/>
          <p:nvPr/>
        </p:nvSpPr>
        <p:spPr>
          <a:xfrm>
            <a:off x="1242000" y="2029680"/>
            <a:ext cx="5180760" cy="184788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endParaRPr b="0" lang="en-IN" sz="1800" strike="noStrike" u="none">
              <a:solidFill>
                <a:srgbClr val="000000"/>
              </a:solidFill>
              <a:effectLst/>
              <a:uFillTx/>
              <a:latin typeface="Arial"/>
            </a:endParaRPr>
          </a:p>
        </p:txBody>
      </p:sp>
      <p:sp>
        <p:nvSpPr>
          <p:cNvPr id="68" name="TextBox 4"/>
          <p:cNvSpPr/>
          <p:nvPr/>
        </p:nvSpPr>
        <p:spPr>
          <a:xfrm>
            <a:off x="1457280" y="3452400"/>
            <a:ext cx="15373080" cy="5526360"/>
          </a:xfrm>
          <a:prstGeom prst="rect">
            <a:avLst/>
          </a:prstGeom>
          <a:noFill/>
          <a:ln w="0">
            <a:noFill/>
          </a:ln>
        </p:spPr>
        <p:style>
          <a:lnRef idx="0"/>
          <a:fillRef idx="0"/>
          <a:effectRef idx="0"/>
          <a:fontRef idx="minor"/>
        </p:style>
        <p:txBody>
          <a:bodyPr lIns="0" rIns="0" tIns="0" bIns="0" anchor="t">
            <a:spAutoFit/>
          </a:bodyPr>
          <a:p>
            <a:pPr algn="ctr" defTabSz="914400">
              <a:lnSpc>
                <a:spcPts val="5440"/>
              </a:lnSpc>
            </a:pPr>
            <a:r>
              <a:rPr b="1" lang="en-US" sz="3890" strike="noStrike" u="none">
                <a:solidFill>
                  <a:srgbClr val="000000"/>
                </a:solidFill>
                <a:effectLst/>
                <a:uFillTx/>
                <a:latin typeface="Canva Sans Bold"/>
                <a:ea typeface="Canva Sans Bold"/>
              </a:rPr>
              <a:t>Introduction</a:t>
            </a:r>
            <a:endParaRPr b="0" lang="en-IN" sz="3890" strike="noStrike" u="none">
              <a:solidFill>
                <a:srgbClr val="000000"/>
              </a:solidFill>
              <a:effectLst/>
              <a:uFillTx/>
              <a:latin typeface="Arial"/>
            </a:endParaRPr>
          </a:p>
          <a:p>
            <a:pPr algn="ctr" defTabSz="914400">
              <a:lnSpc>
                <a:spcPts val="5440"/>
              </a:lnSpc>
            </a:pPr>
            <a:r>
              <a:rPr b="1" lang="en-US" sz="3890" strike="noStrike" u="none">
                <a:solidFill>
                  <a:srgbClr val="000000"/>
                </a:solidFill>
                <a:effectLst/>
                <a:uFillTx/>
                <a:latin typeface="Canva Sans Bold"/>
                <a:ea typeface="Canva Sans Bold"/>
              </a:rPr>
              <a:t>The Credit Card Billing and Payment Reminder System is a software application designed to help users manage their credit card bills efficiently. It tracks billing dates, due dates, and outstanding balances, and sends timely reminders to avoid late payments. This system reduces the risk of penalties, improves financial discipline, and ensures smooth credit management.</a:t>
            </a:r>
            <a:endParaRPr b="0" lang="en-IN" sz="389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70" name="TextBox 3"/>
          <p:cNvSpPr/>
          <p:nvPr/>
        </p:nvSpPr>
        <p:spPr>
          <a:xfrm>
            <a:off x="393480" y="2102400"/>
            <a:ext cx="10226160" cy="879840"/>
          </a:xfrm>
          <a:prstGeom prst="rect">
            <a:avLst/>
          </a:prstGeom>
          <a:noFill/>
          <a:ln w="0">
            <a:noFill/>
          </a:ln>
        </p:spPr>
        <p:style>
          <a:lnRef idx="0"/>
          <a:fillRef idx="0"/>
          <a:effectRef idx="0"/>
          <a:fontRef idx="minor"/>
        </p:style>
        <p:txBody>
          <a:bodyPr lIns="0" rIns="0" tIns="0" bIns="0" anchor="t">
            <a:spAutoFit/>
          </a:bodyPr>
          <a:p>
            <a:pPr algn="ctr" defTabSz="914400">
              <a:lnSpc>
                <a:spcPts val="6928"/>
              </a:lnSpc>
            </a:pPr>
            <a:r>
              <a:rPr b="1" lang="en-US" sz="4950" strike="noStrike" u="none">
                <a:solidFill>
                  <a:srgbClr val="000000"/>
                </a:solidFill>
                <a:effectLst/>
                <a:uFillTx/>
                <a:latin typeface="Canva Sans Bold"/>
                <a:ea typeface="Canva Sans Bold"/>
              </a:rPr>
              <a:t>        PROBLEM STATEMENT:</a:t>
            </a:r>
            <a:endParaRPr b="0" lang="en-IN" sz="4950" strike="noStrike" u="none">
              <a:solidFill>
                <a:srgbClr val="000000"/>
              </a:solidFill>
              <a:effectLst/>
              <a:uFillTx/>
              <a:latin typeface="Arial"/>
            </a:endParaRPr>
          </a:p>
        </p:txBody>
      </p:sp>
      <p:sp>
        <p:nvSpPr>
          <p:cNvPr id="71" name="TextBox 4"/>
          <p:cNvSpPr/>
          <p:nvPr/>
        </p:nvSpPr>
        <p:spPr>
          <a:xfrm>
            <a:off x="-473400" y="4056120"/>
            <a:ext cx="17732160" cy="3378600"/>
          </a:xfrm>
          <a:prstGeom prst="rect">
            <a:avLst/>
          </a:prstGeom>
          <a:noFill/>
          <a:ln w="0">
            <a:noFill/>
          </a:ln>
        </p:spPr>
        <p:style>
          <a:lnRef idx="0"/>
          <a:fillRef idx="0"/>
          <a:effectRef idx="0"/>
          <a:fontRef idx="minor"/>
        </p:style>
        <p:txBody>
          <a:bodyPr lIns="0" rIns="0" tIns="0" bIns="0" anchor="t">
            <a:spAutoFit/>
          </a:bodyPr>
          <a:p>
            <a:pPr algn="ctr" defTabSz="914400">
              <a:lnSpc>
                <a:spcPts val="5321"/>
              </a:lnSpc>
            </a:pPr>
            <a:r>
              <a:rPr b="1" lang="en-US" sz="3800" strike="noStrike" u="none">
                <a:solidFill>
                  <a:srgbClr val="000000"/>
                </a:solidFill>
                <a:effectLst/>
                <a:uFillTx/>
                <a:latin typeface="Canva Sans Bold"/>
                <a:ea typeface="Canva Sans Bold"/>
              </a:rPr>
              <a:t>1.Late payment fees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2.Increased interest charges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3.Poor credit scores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4.Financial mismanagement.</a:t>
            </a:r>
            <a:endParaRPr b="0" lang="en-IN" sz="3800" strike="noStrike" u="none">
              <a:solidFill>
                <a:srgbClr val="000000"/>
              </a:solidFill>
              <a:effectLst/>
              <a:uFillTx/>
              <a:latin typeface="Arial"/>
            </a:endParaRPr>
          </a:p>
          <a:p>
            <a:pPr algn="ctr" defTabSz="914400">
              <a:lnSpc>
                <a:spcPts val="5321"/>
              </a:lnSpc>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73" name="TextBox 3"/>
          <p:cNvSpPr/>
          <p:nvPr/>
        </p:nvSpPr>
        <p:spPr>
          <a:xfrm>
            <a:off x="1028880" y="1785960"/>
            <a:ext cx="12650760" cy="9241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OBJECTIVES OF THE PROJECT</a:t>
            </a:r>
            <a:endParaRPr b="0" lang="en-IN" sz="5200" strike="noStrike" u="none">
              <a:solidFill>
                <a:srgbClr val="000000"/>
              </a:solidFill>
              <a:effectLst/>
              <a:uFillTx/>
              <a:latin typeface="Arial"/>
            </a:endParaRPr>
          </a:p>
        </p:txBody>
      </p:sp>
      <p:sp>
        <p:nvSpPr>
          <p:cNvPr id="74" name="TextBox 4"/>
          <p:cNvSpPr/>
          <p:nvPr/>
        </p:nvSpPr>
        <p:spPr>
          <a:xfrm>
            <a:off x="675360" y="3448800"/>
            <a:ext cx="14957640" cy="4054320"/>
          </a:xfrm>
          <a:prstGeom prst="rect">
            <a:avLst/>
          </a:prstGeom>
          <a:noFill/>
          <a:ln w="0">
            <a:noFill/>
          </a:ln>
        </p:spPr>
        <p:style>
          <a:lnRef idx="0"/>
          <a:fillRef idx="0"/>
          <a:effectRef idx="0"/>
          <a:fontRef idx="minor"/>
        </p:style>
        <p:txBody>
          <a:bodyPr lIns="0" rIns="0" tIns="0" bIns="0" anchor="t">
            <a:spAutoFit/>
          </a:bodyPr>
          <a:p>
            <a:pPr algn="ctr" defTabSz="914400">
              <a:lnSpc>
                <a:spcPts val="5321"/>
              </a:lnSpc>
            </a:pPr>
            <a:r>
              <a:rPr b="1" lang="en-US" sz="3800" strike="noStrike" u="none">
                <a:solidFill>
                  <a:srgbClr val="000000"/>
                </a:solidFill>
                <a:effectLst/>
                <a:uFillTx/>
                <a:latin typeface="Canva Sans Bold"/>
                <a:ea typeface="Canva Sans Bold"/>
              </a:rPr>
              <a:t>1.To store and manage credit card details securely</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2.To track billing cycles and due dates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3.To send timely reminders for bill payments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4.To avoid late payment penalties</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5.To provide a simple and user-friendly interface</a:t>
            </a:r>
            <a:endParaRPr b="0" lang="en-IN" sz="3800" strike="noStrike" u="none">
              <a:solidFill>
                <a:srgbClr val="000000"/>
              </a:solidFill>
              <a:effectLst/>
              <a:uFillTx/>
              <a:latin typeface="Arial"/>
            </a:endParaRPr>
          </a:p>
          <a:p>
            <a:pPr algn="ctr" defTabSz="914400">
              <a:lnSpc>
                <a:spcPts val="5321"/>
              </a:lnSpc>
            </a:pPr>
            <a:r>
              <a:rPr b="1" lang="en-US" sz="3800" strike="noStrike" u="none">
                <a:solidFill>
                  <a:srgbClr val="000000"/>
                </a:solidFill>
                <a:effectLst/>
                <a:uFillTx/>
                <a:latin typeface="Canva Sans Bold"/>
                <a:ea typeface="Canva Sans Bold"/>
              </a:rPr>
              <a:t>6.To improve financial awareness and discipline</a:t>
            </a:r>
            <a:endParaRPr b="0" lang="en-IN" sz="3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76" name="TextBox 3"/>
          <p:cNvSpPr/>
          <p:nvPr/>
        </p:nvSpPr>
        <p:spPr>
          <a:xfrm>
            <a:off x="756720" y="1181160"/>
            <a:ext cx="15082920" cy="9241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SCOPE OF THE SYSTEM</a:t>
            </a:r>
            <a:endParaRPr b="0" lang="en-IN" sz="5200" strike="noStrike" u="none">
              <a:solidFill>
                <a:srgbClr val="000000"/>
              </a:solidFill>
              <a:effectLst/>
              <a:uFillTx/>
              <a:latin typeface="Arial"/>
            </a:endParaRPr>
          </a:p>
        </p:txBody>
      </p:sp>
      <p:sp>
        <p:nvSpPr>
          <p:cNvPr id="77" name="TextBox 4"/>
          <p:cNvSpPr/>
          <p:nvPr/>
        </p:nvSpPr>
        <p:spPr>
          <a:xfrm>
            <a:off x="756720" y="2490480"/>
            <a:ext cx="8591400" cy="8863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endParaRPr b="0" lang="en-IN" sz="1800" strike="noStrike" u="none">
              <a:solidFill>
                <a:srgbClr val="000000"/>
              </a:solidFill>
              <a:effectLst/>
              <a:uFillTx/>
              <a:latin typeface="Arial"/>
            </a:endParaRPr>
          </a:p>
        </p:txBody>
      </p:sp>
      <p:sp>
        <p:nvSpPr>
          <p:cNvPr id="78" name="TextBox 5"/>
          <p:cNvSpPr/>
          <p:nvPr/>
        </p:nvSpPr>
        <p:spPr>
          <a:xfrm>
            <a:off x="938520" y="3834360"/>
            <a:ext cx="16295760" cy="3767400"/>
          </a:xfrm>
          <a:prstGeom prst="rect">
            <a:avLst/>
          </a:prstGeom>
          <a:noFill/>
          <a:ln w="0">
            <a:noFill/>
          </a:ln>
        </p:spPr>
        <p:style>
          <a:lnRef idx="0"/>
          <a:fillRef idx="0"/>
          <a:effectRef idx="0"/>
          <a:fontRef idx="minor"/>
        </p:style>
        <p:txBody>
          <a:bodyPr lIns="0" rIns="0" tIns="0" bIns="0" anchor="t">
            <a:spAutoFit/>
          </a:bodyPr>
          <a:p>
            <a:pPr algn="ctr" defTabSz="914400">
              <a:lnSpc>
                <a:spcPts val="5933"/>
              </a:lnSpc>
            </a:pPr>
            <a:r>
              <a:rPr b="1" lang="en-US" sz="4240" strike="noStrike" u="none">
                <a:solidFill>
                  <a:srgbClr val="000000"/>
                </a:solidFill>
                <a:effectLst/>
                <a:uFillTx/>
                <a:latin typeface="Canva Sans Bold"/>
                <a:ea typeface="Canva Sans Bold"/>
              </a:rPr>
              <a:t>1.Used by individual credit card users</a:t>
            </a:r>
            <a:endParaRPr b="0" lang="en-IN" sz="4240" strike="noStrike" u="none">
              <a:solidFill>
                <a:srgbClr val="000000"/>
              </a:solidFill>
              <a:effectLst/>
              <a:uFillTx/>
              <a:latin typeface="Arial"/>
            </a:endParaRPr>
          </a:p>
          <a:p>
            <a:pPr algn="ctr" defTabSz="914400">
              <a:lnSpc>
                <a:spcPts val="5933"/>
              </a:lnSpc>
            </a:pPr>
            <a:r>
              <a:rPr b="1" lang="en-US" sz="4240" strike="noStrike" u="none">
                <a:solidFill>
                  <a:srgbClr val="000000"/>
                </a:solidFill>
                <a:effectLst/>
                <a:uFillTx/>
                <a:latin typeface="Canva Sans Bold"/>
                <a:ea typeface="Canva Sans Bold"/>
              </a:rPr>
              <a:t>2.Tracks multiple credit cards</a:t>
            </a:r>
            <a:endParaRPr b="0" lang="en-IN" sz="4240" strike="noStrike" u="none">
              <a:solidFill>
                <a:srgbClr val="000000"/>
              </a:solidFill>
              <a:effectLst/>
              <a:uFillTx/>
              <a:latin typeface="Arial"/>
            </a:endParaRPr>
          </a:p>
          <a:p>
            <a:pPr algn="ctr" defTabSz="914400">
              <a:lnSpc>
                <a:spcPts val="5933"/>
              </a:lnSpc>
            </a:pPr>
            <a:r>
              <a:rPr b="1" lang="en-US" sz="4240" strike="noStrike" u="none">
                <a:solidFill>
                  <a:srgbClr val="000000"/>
                </a:solidFill>
                <a:effectLst/>
                <a:uFillTx/>
                <a:latin typeface="Canva Sans Bold"/>
                <a:ea typeface="Canva Sans Bold"/>
              </a:rPr>
              <a:t>3.Sends alerts via system notification</a:t>
            </a:r>
            <a:endParaRPr b="0" lang="en-IN" sz="4240" strike="noStrike" u="none">
              <a:solidFill>
                <a:srgbClr val="000000"/>
              </a:solidFill>
              <a:effectLst/>
              <a:uFillTx/>
              <a:latin typeface="Arial"/>
            </a:endParaRPr>
          </a:p>
          <a:p>
            <a:pPr algn="ctr" defTabSz="914400">
              <a:lnSpc>
                <a:spcPts val="5933"/>
              </a:lnSpc>
            </a:pPr>
            <a:r>
              <a:rPr b="1" lang="en-US" sz="4240" strike="noStrike" u="none">
                <a:solidFill>
                  <a:srgbClr val="000000"/>
                </a:solidFill>
                <a:effectLst/>
                <a:uFillTx/>
                <a:latin typeface="Canva Sans Bold"/>
                <a:ea typeface="Canva Sans Bold"/>
              </a:rPr>
              <a:t>4.Stores transaction and billing details</a:t>
            </a:r>
            <a:endParaRPr b="0" lang="en-IN" sz="4240" strike="noStrike" u="none">
              <a:solidFill>
                <a:srgbClr val="000000"/>
              </a:solidFill>
              <a:effectLst/>
              <a:uFillTx/>
              <a:latin typeface="Arial"/>
            </a:endParaRPr>
          </a:p>
          <a:p>
            <a:pPr algn="ctr" defTabSz="914400">
              <a:lnSpc>
                <a:spcPts val="5933"/>
              </a:lnSpc>
            </a:pPr>
            <a:r>
              <a:rPr b="1" lang="en-US" sz="4240" strike="noStrike" u="none">
                <a:solidFill>
                  <a:srgbClr val="000000"/>
                </a:solidFill>
                <a:effectLst/>
                <a:uFillTx/>
                <a:latin typeface="Canva Sans Bold"/>
                <a:ea typeface="Canva Sans Bold"/>
              </a:rPr>
              <a:t>Can be extended to mobile apps or web-based systems</a:t>
            </a:r>
            <a:endParaRPr b="0" lang="en-IN" sz="424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80" name="TextBox 4"/>
          <p:cNvSpPr/>
          <p:nvPr/>
        </p:nvSpPr>
        <p:spPr>
          <a:xfrm>
            <a:off x="540000" y="1080000"/>
            <a:ext cx="17639640" cy="810108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SYSTEM MODULES</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Account &amp; Billing Module– Manages customer/card data, generates statements, and calculates dues with interest.</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Payment &amp; Notification Module– Processes payments and sends reminders/alerts for due and overdue bills.</a:t>
            </a:r>
            <a:endParaRPr b="0" lang="en-IN" sz="5200" strike="noStrike" u="none">
              <a:solidFill>
                <a:srgbClr val="000000"/>
              </a:solidFill>
              <a:effectLst/>
              <a:uFillTx/>
              <a:latin typeface="Arial"/>
            </a:endParaRPr>
          </a:p>
          <a:p>
            <a:pP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 </a:t>
            </a:r>
            <a:endParaRPr b="0" lang="en-IN" sz="5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Freeform 2"/>
          <p:cNvSpPr/>
          <p:nvPr/>
        </p:nvSpPr>
        <p:spPr>
          <a:xfrm>
            <a:off x="335880" y="16308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82" name="TextBox 4"/>
          <p:cNvSpPr/>
          <p:nvPr/>
        </p:nvSpPr>
        <p:spPr>
          <a:xfrm>
            <a:off x="1620000" y="2796480"/>
            <a:ext cx="13859640" cy="1788840"/>
          </a:xfrm>
          <a:prstGeom prst="rect">
            <a:avLst/>
          </a:prstGeom>
          <a:noFill/>
          <a:ln w="0">
            <a:noFill/>
          </a:ln>
        </p:spPr>
        <p:style>
          <a:lnRef idx="0"/>
          <a:fillRef idx="0"/>
          <a:effectRef idx="0"/>
          <a:fontRef idx="minor"/>
        </p:style>
        <p:txBody>
          <a:bodyPr lIns="0" rIns="0" tIns="0" bIns="0" anchor="t">
            <a:spAutoFit/>
          </a:bodyPr>
          <a:p>
            <a:pPr defTabSz="914400">
              <a:lnSpc>
                <a:spcPts val="4034"/>
              </a:lnSpc>
              <a:spcBef>
                <a:spcPts val="1191"/>
              </a:spcBef>
              <a:spcAft>
                <a:spcPts val="992"/>
              </a:spcAft>
            </a:pPr>
            <a:endParaRPr b="0" lang="en-IN" sz="1000" strike="noStrike" u="none">
              <a:solidFill>
                <a:srgbClr val="000000"/>
              </a:solidFill>
              <a:effectLst/>
              <a:uFillTx/>
              <a:latin typeface="Arial"/>
            </a:endParaRPr>
          </a:p>
          <a:p>
            <a:pPr defTabSz="914400">
              <a:lnSpc>
                <a:spcPts val="4034"/>
              </a:lnSpc>
              <a:spcBef>
                <a:spcPts val="1191"/>
              </a:spcBef>
              <a:spcAft>
                <a:spcPts val="992"/>
              </a:spcAft>
            </a:pPr>
            <a:endParaRPr b="0" lang="en-IN" sz="1000" strike="noStrike" u="none">
              <a:solidFill>
                <a:srgbClr val="000000"/>
              </a:solidFill>
              <a:effectLst/>
              <a:uFillTx/>
              <a:latin typeface="Arial"/>
            </a:endParaRPr>
          </a:p>
          <a:p>
            <a:pPr defTabSz="914400">
              <a:lnSpc>
                <a:spcPts val="4034"/>
              </a:lnSpc>
              <a:spcBef>
                <a:spcPts val="1191"/>
              </a:spcBef>
              <a:spcAft>
                <a:spcPts val="992"/>
              </a:spcAft>
            </a:pPr>
            <a:endParaRPr b="0" lang="en-IN" sz="2880" strike="noStrike" u="none">
              <a:solidFill>
                <a:srgbClr val="000000"/>
              </a:solidFill>
              <a:effectLst/>
              <a:uFillTx/>
              <a:latin typeface="Arial"/>
            </a:endParaRPr>
          </a:p>
        </p:txBody>
      </p:sp>
      <p:sp>
        <p:nvSpPr>
          <p:cNvPr id="83" name="TextBox 1"/>
          <p:cNvSpPr/>
          <p:nvPr/>
        </p:nvSpPr>
        <p:spPr>
          <a:xfrm>
            <a:off x="335880" y="1440000"/>
            <a:ext cx="17663760" cy="115549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SYSTEM WORKFLOW</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Transactions are recorded and compiled during the billing cycle.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System generates the credit card statement with total due and due date.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Reminders are sent to customers before and on the due date. Payment is processed if delayed, late fees are applied and alerts are sent.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endParaRPr b="0" lang="en-IN" sz="1000" strike="noStrike" u="none">
              <a:solidFill>
                <a:srgbClr val="000000"/>
              </a:solidFill>
              <a:effectLst/>
              <a:uFillTx/>
              <a:latin typeface="Arial"/>
            </a:endParaRPr>
          </a:p>
          <a:p>
            <a:pPr algn="ctr" defTabSz="914400">
              <a:lnSpc>
                <a:spcPts val="7279"/>
              </a:lnSpc>
              <a:spcBef>
                <a:spcPts val="1191"/>
              </a:spcBef>
              <a:spcAft>
                <a:spcPts val="992"/>
              </a:spcAft>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85" name="TextBox 3"/>
          <p:cNvSpPr/>
          <p:nvPr/>
        </p:nvSpPr>
        <p:spPr>
          <a:xfrm>
            <a:off x="-226440" y="895680"/>
            <a:ext cx="18359640" cy="83203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JAVA CONCEPTS USED</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Classes and Objects (User, Card, Transaction)</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Encapsulation (private data with getters/setters)</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Inheritance (optional for extending features)</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Collections (ArrayList for storing data)</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Exception Handling (invalid inputs)</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File Handling / Database Connectivity (data storage)</a:t>
            </a:r>
            <a:endParaRPr b="0" lang="en-IN" sz="5200" strike="noStrike" u="none">
              <a:solidFill>
                <a:srgbClr val="000000"/>
              </a:solidFill>
              <a:effectLst/>
              <a:uFillTx/>
              <a:latin typeface="Arial"/>
            </a:endParaRPr>
          </a:p>
          <a:p>
            <a:pPr algn="ctr" defTabSz="914400">
              <a:lnSpc>
                <a:spcPts val="7279"/>
              </a:lnSpc>
            </a:pPr>
            <a:r>
              <a:rPr b="1" lang="en-US" sz="5200" strike="noStrike" u="none">
                <a:solidFill>
                  <a:srgbClr val="000000"/>
                </a:solidFill>
                <a:effectLst/>
                <a:uFillTx/>
                <a:latin typeface="Canva Sans Bold"/>
                <a:ea typeface="Canva Sans Bold"/>
              </a:rPr>
              <a:t>Date and Time API (for reminders)</a:t>
            </a:r>
            <a:endParaRPr b="0" lang="en-IN" sz="5200" strike="noStrike" u="none">
              <a:solidFill>
                <a:srgbClr val="000000"/>
              </a:solidFill>
              <a:effectLst/>
              <a:uFillTx/>
              <a:latin typeface="Arial"/>
            </a:endParaRPr>
          </a:p>
        </p:txBody>
      </p:sp>
      <p:sp>
        <p:nvSpPr>
          <p:cNvPr id="86" name="TextBox 4"/>
          <p:cNvSpPr/>
          <p:nvPr/>
        </p:nvSpPr>
        <p:spPr>
          <a:xfrm>
            <a:off x="-2965680" y="2436480"/>
            <a:ext cx="21031200" cy="544680"/>
          </a:xfrm>
          <a:prstGeom prst="rect">
            <a:avLst/>
          </a:prstGeom>
          <a:noFill/>
          <a:ln w="0">
            <a:noFill/>
          </a:ln>
        </p:spPr>
        <p:style>
          <a:lnRef idx="0"/>
          <a:fillRef idx="0"/>
          <a:effectRef idx="0"/>
          <a:fontRef idx="minor"/>
        </p:style>
        <p:txBody>
          <a:bodyPr lIns="0" rIns="0" tIns="0" bIns="0" anchor="t">
            <a:spAutoFit/>
          </a:bodyPr>
          <a:p>
            <a:pPr algn="ctr" defTabSz="914400">
              <a:lnSpc>
                <a:spcPts val="4289"/>
              </a:lnSpc>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Freeform 2"/>
          <p:cNvSpPr/>
          <p:nvPr/>
        </p:nvSpPr>
        <p:spPr>
          <a:xfrm>
            <a:off x="167400" y="22320"/>
            <a:ext cx="18045720" cy="9916560"/>
          </a:xfrm>
          <a:custGeom>
            <a:avLst/>
            <a:gdLst>
              <a:gd name="textAreaLeft" fmla="*/ 0 w 18045720"/>
              <a:gd name="textAreaRight" fmla="*/ 18046440 w 1804572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88" name="TextBox 4"/>
          <p:cNvSpPr/>
          <p:nvPr/>
        </p:nvSpPr>
        <p:spPr>
          <a:xfrm>
            <a:off x="790560" y="537480"/>
            <a:ext cx="5217480" cy="277308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JAVA PROGRAM</a:t>
            </a:r>
            <a:endParaRPr b="0" lang="en-IN" sz="5200" strike="noStrike" u="none">
              <a:solidFill>
                <a:srgbClr val="000000"/>
              </a:solidFill>
              <a:effectLst/>
              <a:uFillTx/>
              <a:latin typeface="Arial"/>
            </a:endParaRPr>
          </a:p>
          <a:p>
            <a:pPr algn="ctr" defTabSz="914400">
              <a:lnSpc>
                <a:spcPts val="7279"/>
              </a:lnSpc>
            </a:pPr>
            <a:endParaRPr b="0" lang="en-IN" sz="5200" strike="noStrike" u="none">
              <a:solidFill>
                <a:srgbClr val="000000"/>
              </a:solidFill>
              <a:effectLst/>
              <a:uFillTx/>
              <a:latin typeface="Arial"/>
            </a:endParaRPr>
          </a:p>
        </p:txBody>
      </p:sp>
      <p:pic>
        <p:nvPicPr>
          <p:cNvPr id="89" name="" descr=""/>
          <p:cNvPicPr/>
          <p:nvPr/>
        </p:nvPicPr>
        <p:blipFill>
          <a:blip r:embed="rId2"/>
          <a:stretch/>
        </p:blipFill>
        <p:spPr>
          <a:xfrm>
            <a:off x="360000" y="2520000"/>
            <a:ext cx="9179640" cy="6839640"/>
          </a:xfrm>
          <a:prstGeom prst="rect">
            <a:avLst/>
          </a:prstGeom>
          <a:noFill/>
          <a:ln w="0">
            <a:noFill/>
          </a:ln>
        </p:spPr>
      </p:pic>
      <p:pic>
        <p:nvPicPr>
          <p:cNvPr id="90" name="" descr=""/>
          <p:cNvPicPr/>
          <p:nvPr/>
        </p:nvPicPr>
        <p:blipFill>
          <a:blip r:embed="rId3"/>
          <a:stretch/>
        </p:blipFill>
        <p:spPr>
          <a:xfrm>
            <a:off x="9900000" y="2340000"/>
            <a:ext cx="7739640" cy="66596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Freeform 2"/>
          <p:cNvSpPr/>
          <p:nvPr/>
        </p:nvSpPr>
        <p:spPr>
          <a:xfrm>
            <a:off x="221760" y="185040"/>
            <a:ext cx="17843760" cy="9916560"/>
          </a:xfrm>
          <a:custGeom>
            <a:avLst/>
            <a:gdLst>
              <a:gd name="textAreaLeft" fmla="*/ 0 w 17843760"/>
              <a:gd name="textAreaRight" fmla="*/ 17844480 w 17843760"/>
              <a:gd name="textAreaTop" fmla="*/ 0 h 9916560"/>
              <a:gd name="textAreaBottom" fmla="*/ 9917280 h 9916560"/>
            </a:gdLst>
            <a:ahLst/>
            <a:cxnLst/>
            <a:rect l="textAreaLeft" t="textAreaTop" r="textAreaRight" b="textAreaBottom"/>
            <a:pathLst>
              <a:path w="17844496" h="9917139">
                <a:moveTo>
                  <a:pt x="0" y="0"/>
                </a:moveTo>
                <a:lnTo>
                  <a:pt x="17844496" y="0"/>
                </a:lnTo>
                <a:lnTo>
                  <a:pt x="17844496"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92" name="TextBox 4"/>
          <p:cNvSpPr/>
          <p:nvPr/>
        </p:nvSpPr>
        <p:spPr>
          <a:xfrm>
            <a:off x="1028880" y="933480"/>
            <a:ext cx="5516280" cy="8863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OUTPUT SCREEN</a:t>
            </a:r>
            <a:endParaRPr b="0" lang="en-IN" sz="5200" strike="noStrike" u="none">
              <a:solidFill>
                <a:srgbClr val="000000"/>
              </a:solidFill>
              <a:effectLst/>
              <a:uFillTx/>
              <a:latin typeface="Arial"/>
            </a:endParaRPr>
          </a:p>
        </p:txBody>
      </p:sp>
      <p:pic>
        <p:nvPicPr>
          <p:cNvPr id="93" name="" descr=""/>
          <p:cNvPicPr/>
          <p:nvPr/>
        </p:nvPicPr>
        <p:blipFill>
          <a:blip r:embed="rId2"/>
          <a:stretch/>
        </p:blipFill>
        <p:spPr>
          <a:xfrm>
            <a:off x="5914440" y="1440000"/>
            <a:ext cx="11447640" cy="5939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Freeform 2"/>
          <p:cNvSpPr/>
          <p:nvPr/>
        </p:nvSpPr>
        <p:spPr>
          <a:xfrm>
            <a:off x="189360" y="185040"/>
            <a:ext cx="17908920" cy="9916560"/>
          </a:xfrm>
          <a:custGeom>
            <a:avLst/>
            <a:gdLst>
              <a:gd name="textAreaLeft" fmla="*/ 0 w 17908920"/>
              <a:gd name="textAreaRight" fmla="*/ 17909640 w 17908920"/>
              <a:gd name="textAreaTop" fmla="*/ 0 h 9916560"/>
              <a:gd name="textAreaBottom" fmla="*/ 9917280 h 9916560"/>
            </a:gdLst>
            <a:ahLst/>
            <a:cxnLst/>
            <a:rect l="textAreaLeft" t="textAreaTop" r="textAreaRight" b="textAreaBottom"/>
            <a:pathLst>
              <a:path w="17909460" h="9917139">
                <a:moveTo>
                  <a:pt x="0" y="0"/>
                </a:moveTo>
                <a:lnTo>
                  <a:pt x="17909460" y="0"/>
                </a:lnTo>
                <a:lnTo>
                  <a:pt x="17909460"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95" name="TextBox 3"/>
          <p:cNvSpPr/>
          <p:nvPr/>
        </p:nvSpPr>
        <p:spPr>
          <a:xfrm>
            <a:off x="812160" y="540000"/>
            <a:ext cx="17187480" cy="1035324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DEMONSTRATION STEPS</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1.Create a credit card account and set the credit limit.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2. Add transactions to update the balance during the billing cycle.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3.Generate the bill and send payment reminders to the customer. </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4.Process payment and update the remaining due or apply late fees if unpaid.</a:t>
            </a:r>
            <a:endParaRPr b="0" lang="en-IN" sz="5200" strike="noStrike" u="none">
              <a:solidFill>
                <a:srgbClr val="000000"/>
              </a:solidFill>
              <a:effectLst/>
              <a:uFillTx/>
              <a:latin typeface="Arial"/>
            </a:endParaRPr>
          </a:p>
          <a:p>
            <a:pPr algn="ctr" defTabSz="914400">
              <a:lnSpc>
                <a:spcPts val="7279"/>
              </a:lnSpc>
              <a:spcBef>
                <a:spcPts val="1191"/>
              </a:spcBef>
              <a:spcAft>
                <a:spcPts val="992"/>
              </a:spcAft>
            </a:pPr>
            <a:endParaRPr b="0" lang="en-IN" sz="5200" strike="noStrike" u="none">
              <a:solidFill>
                <a:srgbClr val="000000"/>
              </a:solidFill>
              <a:effectLst/>
              <a:uFillTx/>
              <a:latin typeface="Arial"/>
            </a:endParaRPr>
          </a:p>
        </p:txBody>
      </p:sp>
      <p:sp>
        <p:nvSpPr>
          <p:cNvPr id="96" name="TextBox 4"/>
          <p:cNvSpPr/>
          <p:nvPr/>
        </p:nvSpPr>
        <p:spPr>
          <a:xfrm>
            <a:off x="720000" y="1980000"/>
            <a:ext cx="17999640" cy="5240160"/>
          </a:xfrm>
          <a:prstGeom prst="rect">
            <a:avLst/>
          </a:prstGeom>
          <a:noFill/>
          <a:ln w="0">
            <a:noFill/>
          </a:ln>
        </p:spPr>
        <p:style>
          <a:lnRef idx="0"/>
          <a:fillRef idx="0"/>
          <a:effectRef idx="0"/>
          <a:fontRef idx="minor"/>
        </p:style>
        <p:txBody>
          <a:bodyPr lIns="0" rIns="0" tIns="0" bIns="0" anchor="t">
            <a:spAutoFit/>
          </a:bodyPr>
          <a:p>
            <a:pPr defTabSz="914400">
              <a:lnSpc>
                <a:spcPts val="5457"/>
              </a:lnSpc>
              <a:spcBef>
                <a:spcPts val="1191"/>
              </a:spcBef>
              <a:spcAft>
                <a:spcPts val="992"/>
              </a:spcAft>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Freeform 2"/>
          <p:cNvSpPr/>
          <p:nvPr/>
        </p:nvSpPr>
        <p:spPr>
          <a:xfrm>
            <a:off x="189360" y="185040"/>
            <a:ext cx="17908920" cy="9916560"/>
          </a:xfrm>
          <a:custGeom>
            <a:avLst/>
            <a:gdLst>
              <a:gd name="textAreaLeft" fmla="*/ 0 w 17908920"/>
              <a:gd name="textAreaRight" fmla="*/ 17909640 w 17908920"/>
              <a:gd name="textAreaTop" fmla="*/ 0 h 9916560"/>
              <a:gd name="textAreaBottom" fmla="*/ 9917280 h 9916560"/>
            </a:gdLst>
            <a:ahLst/>
            <a:cxnLst/>
            <a:rect l="textAreaLeft" t="textAreaTop" r="textAreaRight" b="textAreaBottom"/>
            <a:pathLst>
              <a:path w="17909460" h="9917139">
                <a:moveTo>
                  <a:pt x="0" y="0"/>
                </a:moveTo>
                <a:lnTo>
                  <a:pt x="17909460" y="0"/>
                </a:lnTo>
                <a:lnTo>
                  <a:pt x="17909460"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98" name="TextBox 3"/>
          <p:cNvSpPr/>
          <p:nvPr/>
        </p:nvSpPr>
        <p:spPr>
          <a:xfrm>
            <a:off x="1028880" y="1274400"/>
            <a:ext cx="7070760" cy="9241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CONCLUSION</a:t>
            </a:r>
            <a:endParaRPr b="0" lang="en-IN" sz="5200" strike="noStrike" u="none">
              <a:solidFill>
                <a:srgbClr val="000000"/>
              </a:solidFill>
              <a:effectLst/>
              <a:uFillTx/>
              <a:latin typeface="Arial"/>
            </a:endParaRPr>
          </a:p>
        </p:txBody>
      </p:sp>
      <p:sp>
        <p:nvSpPr>
          <p:cNvPr id="99" name="TextBox 4"/>
          <p:cNvSpPr/>
          <p:nvPr/>
        </p:nvSpPr>
        <p:spPr>
          <a:xfrm>
            <a:off x="1260000" y="3405600"/>
            <a:ext cx="16199640" cy="6246000"/>
          </a:xfrm>
          <a:prstGeom prst="rect">
            <a:avLst/>
          </a:prstGeom>
          <a:noFill/>
          <a:ln w="0">
            <a:noFill/>
          </a:ln>
        </p:spPr>
        <p:style>
          <a:lnRef idx="0"/>
          <a:fillRef idx="0"/>
          <a:effectRef idx="0"/>
          <a:fontRef idx="minor"/>
        </p:style>
        <p:txBody>
          <a:bodyPr lIns="0" rIns="0" tIns="0" bIns="0" anchor="t">
            <a:spAutoFit/>
          </a:bodyPr>
          <a:p>
            <a:pPr algn="ctr" defTabSz="914400">
              <a:lnSpc>
                <a:spcPts val="4819"/>
              </a:lnSpc>
              <a:spcBef>
                <a:spcPts val="1191"/>
              </a:spcBef>
              <a:spcAft>
                <a:spcPts val="992"/>
              </a:spcAft>
            </a:pPr>
            <a:r>
              <a:rPr b="1" lang="en-US" sz="3440" strike="noStrike" u="none">
                <a:solidFill>
                  <a:srgbClr val="000000"/>
                </a:solidFill>
                <a:effectLst/>
                <a:uFillTx/>
                <a:latin typeface="Canva Sans Bold"/>
                <a:ea typeface="Canva Sans Bold"/>
              </a:rPr>
              <a:t>The Credit Card Billing and Payment Reminder System streamlines the management of credit card accounts by automating transaction tracking, bill generation, and payment reminders. It helps customers stay informed about their dues, reduces late payments, and improves financial discipline. For banks and financial institutions, it ensures accurate billing, timely collection, and enhanced customer satisfaction through efficient notifications. Overall, it enhances convenience, transparency, and reliability in credit card management.</a:t>
            </a:r>
            <a:endParaRPr b="0" lang="en-IN" sz="3440" strike="noStrike" u="none">
              <a:solidFill>
                <a:srgbClr val="000000"/>
              </a:solidFill>
              <a:effectLst/>
              <a:uFillTx/>
              <a:latin typeface="Arial"/>
            </a:endParaRPr>
          </a:p>
          <a:p>
            <a:pPr defTabSz="914400">
              <a:lnSpc>
                <a:spcPts val="4819"/>
              </a:lnSpc>
              <a:spcBef>
                <a:spcPts val="1191"/>
              </a:spcBef>
              <a:spcAft>
                <a:spcPts val="992"/>
              </a:spcAft>
            </a:pPr>
            <a:endParaRPr b="0" lang="en-IN" sz="344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Freeform 2"/>
          <p:cNvSpPr/>
          <p:nvPr/>
        </p:nvSpPr>
        <p:spPr>
          <a:xfrm>
            <a:off x="-203040" y="-38160"/>
            <a:ext cx="18491040" cy="10286640"/>
          </a:xfrm>
          <a:custGeom>
            <a:avLst/>
            <a:gdLst>
              <a:gd name="textAreaLeft" fmla="*/ 0 w 18491040"/>
              <a:gd name="textAreaRight" fmla="*/ 18491760 w 18491040"/>
              <a:gd name="textAreaTop" fmla="*/ 0 h 10286640"/>
              <a:gd name="textAreaBottom" fmla="*/ 10287360 h 10286640"/>
            </a:gdLst>
            <a:ahLst/>
            <a:cxnLst/>
            <a:rect l="textAreaLeft" t="textAreaTop" r="textAreaRight" b="textAreaBottom"/>
            <a:pathLst>
              <a:path w="17909460" h="9917139">
                <a:moveTo>
                  <a:pt x="0" y="0"/>
                </a:moveTo>
                <a:lnTo>
                  <a:pt x="17909460" y="0"/>
                </a:lnTo>
                <a:lnTo>
                  <a:pt x="17909460" y="9917138"/>
                </a:lnTo>
                <a:lnTo>
                  <a:pt x="0" y="9917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101" name="TextBox 3"/>
          <p:cNvSpPr/>
          <p:nvPr/>
        </p:nvSpPr>
        <p:spPr>
          <a:xfrm>
            <a:off x="0" y="720000"/>
            <a:ext cx="18245880" cy="887508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1" lang="en-US" sz="5200" strike="noStrike" u="none">
                <a:solidFill>
                  <a:srgbClr val="000000"/>
                </a:solidFill>
                <a:effectLst/>
                <a:uFillTx/>
                <a:latin typeface="Canva Sans Bold"/>
                <a:ea typeface="Canva Sans Bold"/>
              </a:rPr>
              <a:t>REFERENCE</a:t>
            </a:r>
            <a:endParaRPr b="0" lang="en-IN" sz="5200" strike="noStrike" u="none">
              <a:solidFill>
                <a:srgbClr val="000000"/>
              </a:solidFill>
              <a:effectLst/>
              <a:uFillTx/>
              <a:latin typeface="Arial"/>
            </a:endParaRPr>
          </a:p>
          <a:p>
            <a:pP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 Herbert Schildt, Java: The Complete Reference, McGraw-Hill, 2021 – Covers Java programming concepts applicable to billing systems.</a:t>
            </a:r>
            <a:endParaRPr b="0" lang="en-IN" sz="5200" strike="noStrike" u="none">
              <a:solidFill>
                <a:srgbClr val="000000"/>
              </a:solidFill>
              <a:effectLst/>
              <a:uFillTx/>
              <a:latin typeface="Arial"/>
            </a:endParaRPr>
          </a:p>
          <a:p>
            <a:pPr defTabSz="914400">
              <a:lnSpc>
                <a:spcPts val="7279"/>
              </a:lnSpc>
              <a:spcBef>
                <a:spcPts val="1191"/>
              </a:spcBef>
              <a:spcAft>
                <a:spcPts val="992"/>
              </a:spcAft>
            </a:pPr>
            <a:r>
              <a:rPr b="1" lang="en-US" sz="5200" strike="noStrike" u="none">
                <a:solidFill>
                  <a:srgbClr val="000000"/>
                </a:solidFill>
                <a:effectLst/>
                <a:uFillTx/>
                <a:latin typeface="Canva Sans Bold"/>
                <a:ea typeface="Canva Sans Bold"/>
              </a:rPr>
              <a:t>Budi Kurniawan, Java 8 for Programmers, Pustaka Digital, 2019 – Demonstrates practical Java applications including transaction and payment processing.</a:t>
            </a:r>
            <a:endParaRPr b="0" lang="en-IN" sz="5200" strike="noStrike" u="none">
              <a:solidFill>
                <a:srgbClr val="000000"/>
              </a:solidFill>
              <a:effectLst/>
              <a:uFillTx/>
              <a:latin typeface="Arial"/>
            </a:endParaRPr>
          </a:p>
          <a:p>
            <a:pPr defTabSz="914400">
              <a:lnSpc>
                <a:spcPts val="7279"/>
              </a:lnSpc>
              <a:spcBef>
                <a:spcPts val="1191"/>
              </a:spcBef>
              <a:spcAft>
                <a:spcPts val="992"/>
              </a:spcAft>
            </a:pPr>
            <a:endParaRPr b="0" lang="en-IN" sz="5200" strike="noStrike" u="none">
              <a:solidFill>
                <a:srgbClr val="000000"/>
              </a:solidFill>
              <a:effectLst/>
              <a:uFillTx/>
              <a:latin typeface="Arial"/>
            </a:endParaRPr>
          </a:p>
        </p:txBody>
      </p:sp>
      <p:sp>
        <p:nvSpPr>
          <p:cNvPr id="102" name="TextBox 4"/>
          <p:cNvSpPr/>
          <p:nvPr/>
        </p:nvSpPr>
        <p:spPr>
          <a:xfrm>
            <a:off x="540000" y="2729520"/>
            <a:ext cx="17747640" cy="4023000"/>
          </a:xfrm>
          <a:prstGeom prst="rect">
            <a:avLst/>
          </a:prstGeom>
          <a:noFill/>
          <a:ln w="0">
            <a:noFill/>
          </a:ln>
        </p:spPr>
        <p:style>
          <a:lnRef idx="0"/>
          <a:fillRef idx="0"/>
          <a:effectRef idx="0"/>
          <a:fontRef idx="minor"/>
        </p:style>
        <p:txBody>
          <a:bodyPr lIns="0" rIns="0" tIns="0" bIns="0" anchor="t">
            <a:spAutoFit/>
          </a:bodyPr>
          <a:p>
            <a:pPr defTabSz="914400">
              <a:lnSpc>
                <a:spcPts val="4827"/>
              </a:lnSpc>
              <a:spcBef>
                <a:spcPts val="1191"/>
              </a:spcBef>
              <a:spcAft>
                <a:spcPts val="992"/>
              </a:spcAft>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LibreOffice/25.2.7.2$Windows_X86_64 LibreOffice_project/5cbfd1ab6520636bb5f7b99185aa69bd7456825d</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DAHD51C5n84</dc:identifier>
  <dc:language>en-IN</dc:language>
  <cp:lastModifiedBy/>
  <cp:lastPrinted>2026-04-08T11:01:42Z</cp:lastPrinted>
  <dcterms:modified xsi:type="dcterms:W3CDTF">2026-04-08T11:45:03Z</dcterms:modified>
  <cp:revision>4</cp:revision>
  <dc:subject/>
  <dc:title>Add a little bit of body text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